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Meridian Backbone — Design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30-node Tutte–Coxeter cage topology</a:t>
            </a:r>
          </a:p>
          <a:p>
            <a:pPr>
              <a:defRPr sz="1800"/>
            </a:pPr>
            <a:r>
              <a:t>Uniform 3-regular node degree</a:t>
            </a:r>
          </a:p>
          <a:p>
            <a:pPr>
              <a:defRPr sz="1800"/>
            </a:pPr>
            <a:r>
              <a:t>Girth 8, fully symmetric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Relay Planning (Design Phase)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Tutte–Coxeter graph is bipartite</a:t>
            </a:r>
          </a:p>
          <a:p>
            <a:pPr>
              <a:defRPr sz="1800"/>
            </a:pPr>
            <a:r>
              <a:t>For a bipartite 3-regular graph on 30 nodes, minimum relay count = n/2 = 15</a:t>
            </a:r>
          </a:p>
          <a:p>
            <a:pPr>
              <a:defRPr sz="1800"/>
            </a:pPr>
            <a:r>
              <a:t>Design-phase recommendation: 15 monitoring relays</a:t>
            </a:r>
          </a:p>
          <a:p>
            <a:pPr>
              <a:defRPr sz="1800"/>
            </a:pPr>
            <a:r>
              <a:t>NOTE: figures reflect the original cage, prior to field reroutes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Caveat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These slides describe the DESIGN-PHASE network.</a:t>
            </a:r>
          </a:p>
          <a:p>
            <a:pPr>
              <a:defRPr sz="1800"/>
            </a:pPr>
            <a:r>
              <a:t>The production topology has since been rerouted.</a:t>
            </a:r>
          </a:p>
          <a:p>
            <a:pPr>
              <a:defRPr sz="1800"/>
            </a:pPr>
            <a:r>
              <a:t>Use current_topology.json for all as-built calculations.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